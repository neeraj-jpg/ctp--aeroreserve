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85216"/>
            <a:ext cx="100584" cy="3703320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94944"/>
            <a:ext cx="53035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B8C5"/>
                </a:solidFill>
                <a:latin typeface="Aptos"/>
              </a:rPr>
              <a:t>PROJECT DEFENCE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80160"/>
            <a:ext cx="6400800" cy="8686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AeroReserve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21992"/>
            <a:ext cx="6812280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D6E7F2"/>
                </a:solidFill>
                <a:latin typeface="Aptos"/>
              </a:rPr>
              <a:t>Flight Booking and
Seat Allocation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3246120"/>
            <a:ext cx="6309360" cy="402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Dated routes  ·  45-minute connections  ·  one PNR per itinerary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001000" y="1417320"/>
            <a:ext cx="978408" cy="411480"/>
          </a:xfrm>
          <a:prstGeom prst="line">
            <a:avLst/>
          </a:prstGeom>
          <a:ln w="38100">
            <a:solidFill>
              <a:srgbClr val="14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509760" y="1417320"/>
            <a:ext cx="1060704" cy="411480"/>
          </a:xfrm>
          <a:prstGeom prst="line">
            <a:avLst/>
          </a:prstGeom>
          <a:ln w="38100">
            <a:solidFill>
              <a:srgbClr val="F4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415783" y="1563623"/>
            <a:ext cx="621792" cy="621792"/>
          </a:xfrm>
          <a:prstGeom prst="ellipse">
            <a:avLst/>
          </a:prstGeom>
          <a:solidFill>
            <a:srgbClr val="E8F3F9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1764791"/>
            <a:ext cx="4937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2B46"/>
                </a:solidFill>
                <a:latin typeface="Aptos"/>
              </a:rPr>
              <a:t>VGA</a:t>
            </a:r>
          </a:p>
        </p:txBody>
      </p:sp>
      <p:sp>
        <p:nvSpPr>
          <p:cNvPr id="12" name="Oval 11"/>
          <p:cNvSpPr/>
          <p:nvPr/>
        </p:nvSpPr>
        <p:spPr>
          <a:xfrm>
            <a:off x="8924544" y="1014983"/>
            <a:ext cx="621792" cy="621792"/>
          </a:xfrm>
          <a:prstGeom prst="ellipse">
            <a:avLst/>
          </a:prstGeom>
          <a:solidFill>
            <a:srgbClr val="E8F3F9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1216152"/>
            <a:ext cx="4937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2B46"/>
                </a:solidFill>
                <a:latin typeface="Aptos"/>
              </a:rPr>
              <a:t>HYD</a:t>
            </a:r>
          </a:p>
        </p:txBody>
      </p:sp>
      <p:sp>
        <p:nvSpPr>
          <p:cNvPr id="14" name="Oval 13"/>
          <p:cNvSpPr/>
          <p:nvPr/>
        </p:nvSpPr>
        <p:spPr>
          <a:xfrm>
            <a:off x="10524744" y="1563623"/>
            <a:ext cx="621792" cy="621792"/>
          </a:xfrm>
          <a:prstGeom prst="ellipse">
            <a:avLst/>
          </a:prstGeom>
          <a:solidFill>
            <a:srgbClr val="E8F3F9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88752" y="1764791"/>
            <a:ext cx="4937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2B46"/>
                </a:solidFill>
                <a:latin typeface="Aptos"/>
              </a:rPr>
              <a:t>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450592"/>
            <a:ext cx="374903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8CCDB"/>
                </a:solidFill>
                <a:latin typeface="Aptos"/>
              </a:rPr>
              <a:t>Fictional sample schedule · 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" y="4160520"/>
            <a:ext cx="10314432" cy="1143000"/>
          </a:xfrm>
          <a:prstGeom prst="roundRect">
            <a:avLst/>
          </a:prstGeom>
          <a:solidFill>
            <a:srgbClr val="173B59"/>
          </a:solidFill>
          <a:ln w="10160">
            <a:solidFill>
              <a:srgbClr val="31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708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Student: ____________________     Roll No.: ____________________
Department / Institution: __________________________________________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6236208"/>
            <a:ext cx="58521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8CCDB"/>
                </a:solidFill>
                <a:latin typeface="Aptos"/>
              </a:rPr>
              <a:t>Computational Thinking and 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236208"/>
            <a:ext cx="1188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14B8C5"/>
                </a:solidFill>
                <a:latin typeface="Aptos"/>
              </a:rPr>
              <a:t>13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Flight booking needs flight-specific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4983480" cy="1965960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25880"/>
            <a:ext cx="82296" cy="1965960"/>
          </a:xfrm>
          <a:prstGeom prst="rect">
            <a:avLst/>
          </a:prstGeom>
          <a:solidFill>
            <a:srgbClr val="1463A5"/>
          </a:solidFill>
          <a:ln w="10160">
            <a:solidFill>
              <a:srgbClr val="146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472184"/>
            <a:ext cx="45994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2B46"/>
                </a:solidFill>
                <a:latin typeface="Aptos"/>
              </a:rPr>
              <a:t>Not just a renamed rail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892807"/>
            <a:ext cx="4599432" cy="1271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6B80"/>
                </a:solidFill>
                <a:latin typeface="Aptos"/>
              </a:rPr>
              <a:t>A flight itinerary has dated instances, separate cabin inventory on each leg, airport transfers and flight schedules. One PNR must represent the complete trip.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9008" y="1325880"/>
            <a:ext cx="5815584" cy="1965960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79008" y="1325880"/>
            <a:ext cx="82296" cy="1965960"/>
          </a:xfrm>
          <a:prstGeom prst="rect">
            <a:avLst/>
          </a:prstGeom>
          <a:solidFill>
            <a:srgbClr val="14B8C5"/>
          </a:solidFill>
          <a:ln w="10160"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0176" y="1472184"/>
            <a:ext cx="54315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2B46"/>
                </a:solidFill>
                <a:latin typeface="Aptos"/>
              </a:rPr>
              <a:t>Core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1892807"/>
            <a:ext cx="5431536" cy="1271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6B80"/>
                </a:solidFill>
                <a:latin typeface="Aptos"/>
              </a:rPr>
              <a:t>Origin and destination · travel date · cabin
Direct or up to 2 connections (3 legs)
At least 45 minutes at every transfer
One PNR and leg-specific seats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3592"/>
            <a:ext cx="3493008" cy="1463040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93592"/>
            <a:ext cx="82296" cy="1463040"/>
          </a:xfrm>
          <a:prstGeom prst="rect">
            <a:avLst/>
          </a:prstGeom>
          <a:solidFill>
            <a:srgbClr val="14B8C5"/>
          </a:solidFill>
          <a:ln w="10160"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739896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6"/>
                </a:solidFill>
                <a:latin typeface="Aptos"/>
              </a:rPr>
              <a:t>01 ·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160520"/>
            <a:ext cx="310896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B80"/>
                </a:solidFill>
                <a:latin typeface="Aptos"/>
              </a:rPr>
              <a:t>Fictional daily schedule
7 airports · 27 flight templates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93592"/>
            <a:ext cx="3493008" cy="1463040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93592"/>
            <a:ext cx="82296" cy="1463040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3739896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6"/>
                </a:solidFill>
                <a:latin typeface="Aptos"/>
              </a:rPr>
              <a:t>02 · 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160520"/>
            <a:ext cx="310896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B80"/>
                </a:solidFill>
                <a:latin typeface="Aptos"/>
              </a:rPr>
              <a:t>Same transfer airport
≥45-minute minimum layover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3593592"/>
            <a:ext cx="3493008" cy="1463040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9872" y="3593592"/>
            <a:ext cx="82296" cy="1463040"/>
          </a:xfrm>
          <a:prstGeom prst="rect">
            <a:avLst/>
          </a:prstGeom>
          <a:solidFill>
            <a:srgbClr val="1463A5"/>
          </a:solidFill>
          <a:ln w="10160">
            <a:solidFill>
              <a:srgbClr val="146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739896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6"/>
                </a:solidFill>
                <a:latin typeface="Aptos"/>
              </a:rPr>
              <a:t>03 · Reserve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10896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B80"/>
                </a:solidFill>
                <a:latin typeface="Aptos"/>
              </a:rPr>
              <a:t>Cabin seats per flight leg
One PNR for the itinerary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94960"/>
            <a:ext cx="11027664" cy="530352"/>
          </a:xfrm>
          <a:prstGeom prst="round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522976"/>
            <a:ext cx="1056132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Scope boundary: no live airline feed · no payment processing · no passenger login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02 ·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A complete passenger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39572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73936"/>
            <a:ext cx="438912" cy="438912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02B4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201168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2B46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16352"/>
            <a:ext cx="2011680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36B80"/>
                </a:solidFill>
                <a:latin typeface="Aptos"/>
              </a:rPr>
              <a:t>Choose airports, travel date, cabin and party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554480"/>
            <a:ext cx="239572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312" y="1773936"/>
            <a:ext cx="438912" cy="438912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1874519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02B46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377440"/>
            <a:ext cx="201168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2B46"/>
                </a:solidFill>
                <a:latin typeface="Aptos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816352"/>
            <a:ext cx="2011680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36B80"/>
                </a:solidFill>
                <a:latin typeface="Aptos"/>
              </a:rPr>
              <a:t>Review direct and connecting options, times, seats and fare.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554480"/>
            <a:ext cx="239572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8816" y="1773936"/>
            <a:ext cx="438912" cy="438912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874519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02B46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77440"/>
            <a:ext cx="201168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2B46"/>
                </a:solidFill>
                <a:latin typeface="Aptos"/>
              </a:rPr>
              <a:t>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2816352"/>
            <a:ext cx="2011680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36B80"/>
                </a:solidFill>
                <a:latin typeface="Aptos"/>
              </a:rPr>
              <a:t>Allocate cabin seats separately on each leg under one PNR.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554480"/>
            <a:ext cx="239572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1773936"/>
            <a:ext cx="438912" cy="438912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1874519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02B46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377440"/>
            <a:ext cx="201168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2B46"/>
                </a:solidFill>
                <a:latin typeface="Aptos"/>
              </a:rPr>
              <a:t>Manage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816352"/>
            <a:ext cx="2011680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36B80"/>
                </a:solidFill>
                <a:latin typeface="Aptos"/>
              </a:rPr>
              <a:t>Retrieve or cancel; live seat maps refresh on updates.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4050791"/>
            <a:ext cx="201168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B46"/>
                </a:solidFill>
                <a:latin typeface="Aptos"/>
              </a:rPr>
              <a:t>Cabin inventory per sample flight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480560"/>
            <a:ext cx="2578608" cy="777240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4590288"/>
            <a:ext cx="2340863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02B46"/>
                </a:solidFill>
                <a:latin typeface="Aptos"/>
              </a:rPr>
              <a:t>Economy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882896"/>
            <a:ext cx="2340863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63A5"/>
                </a:solidFill>
                <a:latin typeface="Aptos"/>
              </a:rPr>
              <a:t>36 seats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480560"/>
            <a:ext cx="2578608" cy="777240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4590288"/>
            <a:ext cx="2340863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02B46"/>
                </a:solidFill>
                <a:latin typeface="Aptos"/>
              </a:rPr>
              <a:t>Premium Economy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4882896"/>
            <a:ext cx="2340863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63A5"/>
                </a:solidFill>
                <a:latin typeface="Aptos"/>
              </a:rPr>
              <a:t>12 seats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71616" y="4480560"/>
            <a:ext cx="2578608" cy="777240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4590288"/>
            <a:ext cx="2340863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02B46"/>
                </a:solidFill>
                <a:latin typeface="Aptos"/>
              </a:rPr>
              <a:t>Business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0488" y="4882896"/>
            <a:ext cx="2340863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63A5"/>
                </a:solidFill>
                <a:latin typeface="Aptos"/>
              </a:rPr>
              <a:t>8 seats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5672" y="4480560"/>
            <a:ext cx="2578608" cy="777240"/>
          </a:xfrm>
          <a:prstGeom prst="roundRect">
            <a:avLst/>
          </a:prstGeom>
          <a:solidFill>
            <a:srgbClr val="F5EDF6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544" y="4590288"/>
            <a:ext cx="2340863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02B46"/>
                </a:solidFill>
                <a:latin typeface="Aptos"/>
              </a:rPr>
              <a:t>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4882896"/>
            <a:ext cx="2340863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63A5"/>
                </a:solidFill>
                <a:latin typeface="Aptos"/>
              </a:rPr>
              <a:t>4 seats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5596128"/>
            <a:ext cx="1092708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0" i="1">
                <a:solidFill>
                  <a:srgbClr val="536B80"/>
                </a:solidFill>
                <a:latin typeface="Aptos"/>
              </a:rPr>
              <a:t>Passengers: 1–6 · dates: today through the next 180 days (IST) · schedules/fare constants are fictional.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03 ·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Layered design with explicit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04 / 11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1069848"/>
            <a:ext cx="8641080" cy="47753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925312"/>
            <a:ext cx="103327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B74652"/>
                </a:solidFill>
                <a:latin typeface="Aptos"/>
              </a:rPr>
              <a:t>Locks and event queues are process-local. PostgreSQL URL support is provided, but multi-process consistency is not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04 ·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One booking row, ordered rows for each leg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05 / 11</a:t>
            </a:r>
          </a:p>
        </p:txBody>
      </p:sp>
      <p:pic>
        <p:nvPicPr>
          <p:cNvPr id="8" name="Picture 7" descr="data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1078992"/>
            <a:ext cx="9189720" cy="48366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925312"/>
            <a:ext cx="1033272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36B80"/>
                </a:solidFill>
                <a:latin typeface="Aptos"/>
              </a:rPr>
              <a:t>Cabin seat occupancy is derived from confirmed booking legs for a dated flight and cabin.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05 ·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Bounded route search with a transfer-time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06 / 11</a:t>
            </a:r>
          </a:p>
        </p:txBody>
      </p:sp>
      <p:pic>
        <p:nvPicPr>
          <p:cNvPr id="8" name="Picture 7" descr="rou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903720" cy="34518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16952" y="1353312"/>
            <a:ext cx="3977639" cy="4434840"/>
          </a:xfrm>
          <a:prstGeom prst="round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1627632"/>
            <a:ext cx="342900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Search sequence</a:t>
            </a:r>
          </a:p>
        </p:txBody>
      </p:sp>
      <p:sp>
        <p:nvSpPr>
          <p:cNvPr id="11" name="Oval 10"/>
          <p:cNvSpPr/>
          <p:nvPr/>
        </p:nvSpPr>
        <p:spPr>
          <a:xfrm>
            <a:off x="7882127" y="2286000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176272"/>
            <a:ext cx="3236976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0" i="0">
                <a:solidFill>
                  <a:srgbClr val="E4EEF5"/>
                </a:solidFill>
                <a:latin typeface="Aptos"/>
              </a:rPr>
              <a:t>Build outgoing-flight map for the travel date.</a:t>
            </a:r>
          </a:p>
        </p:txBody>
      </p:sp>
      <p:sp>
        <p:nvSpPr>
          <p:cNvPr id="13" name="Oval 12"/>
          <p:cNvSpPr/>
          <p:nvPr/>
        </p:nvSpPr>
        <p:spPr>
          <a:xfrm>
            <a:off x="7882127" y="2944368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2834639"/>
            <a:ext cx="3236976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0" i="0">
                <a:solidFill>
                  <a:srgbClr val="E4EEF5"/>
                </a:solidFill>
                <a:latin typeface="Aptos"/>
              </a:rPr>
              <a:t>Walk candidate paths to a maximum of 3 legs.</a:t>
            </a:r>
          </a:p>
        </p:txBody>
      </p:sp>
      <p:sp>
        <p:nvSpPr>
          <p:cNvPr id="15" name="Oval 14"/>
          <p:cNvSpPr/>
          <p:nvPr/>
        </p:nvSpPr>
        <p:spPr>
          <a:xfrm>
            <a:off x="7882127" y="3602735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3493007"/>
            <a:ext cx="3236976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0" i="0">
                <a:solidFill>
                  <a:srgbClr val="E4EEF5"/>
                </a:solidFill>
                <a:latin typeface="Aptos"/>
              </a:rPr>
              <a:t>Reject airport cycles and broken airport joins.</a:t>
            </a:r>
          </a:p>
        </p:txBody>
      </p:sp>
      <p:sp>
        <p:nvSpPr>
          <p:cNvPr id="17" name="Oval 16"/>
          <p:cNvSpPr/>
          <p:nvPr/>
        </p:nvSpPr>
        <p:spPr>
          <a:xfrm>
            <a:off x="7882127" y="4261103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4151375"/>
            <a:ext cx="3236976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0" i="0">
                <a:solidFill>
                  <a:srgbClr val="E4EEF5"/>
                </a:solidFill>
                <a:latin typeface="Aptos"/>
              </a:rPr>
              <a:t>Require next departure ≥ previous arrival + 45 min.</a:t>
            </a:r>
          </a:p>
        </p:txBody>
      </p:sp>
      <p:sp>
        <p:nvSpPr>
          <p:cNvPr id="19" name="Oval 18"/>
          <p:cNvSpPr/>
          <p:nvPr/>
        </p:nvSpPr>
        <p:spPr>
          <a:xfrm>
            <a:off x="7882127" y="4919471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4809743"/>
            <a:ext cx="3236976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0" i="0">
                <a:solidFill>
                  <a:srgbClr val="E4EEF5"/>
                </a:solidFill>
                <a:latin typeface="Aptos"/>
              </a:rPr>
              <a:t>Sort by arrival time, stops, distance and flight IDs.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15000"/>
            <a:ext cx="658368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 i="1">
                <a:solidFill>
                  <a:srgbClr val="536B80"/>
                </a:solidFill>
                <a:latin typeface="Aptos"/>
              </a:rPr>
              <a:t>Small fictional network; depth is capped at three legs. No large-network performance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06 · PRICING AND SEATS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Cabin-specific inventory, explainable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5285232" cy="2450592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36192"/>
            <a:ext cx="470916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2B46"/>
                </a:solidFill>
                <a:latin typeface="Aptos"/>
              </a:rPr>
              <a:t>Allocation strategies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39696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029968"/>
            <a:ext cx="4407408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 i="0">
                <a:solidFill>
                  <a:srgbClr val="172B3E"/>
                </a:solidFill>
                <a:latin typeface="Aptos"/>
              </a:rPr>
              <a:t>First-fit: earliest free labels in row order.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88336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578608"/>
            <a:ext cx="4407408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 i="0">
                <a:solidFill>
                  <a:srgbClr val="172B3E"/>
                </a:solidFill>
                <a:latin typeface="Aptos"/>
              </a:rPr>
              <a:t>Window-first: window seats, then row/column.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36976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127248"/>
            <a:ext cx="4407408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 i="0">
                <a:solidFill>
                  <a:srgbClr val="172B3E"/>
                </a:solidFill>
                <a:latin typeface="Aptos"/>
              </a:rPr>
              <a:t>Family-aware: same-row block off the aisle; otherwise first-fit.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325880"/>
            <a:ext cx="5413248" cy="2450592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E9D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36192"/>
            <a:ext cx="48920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2B46"/>
                </a:solidFill>
                <a:latin typeface="Aptos"/>
              </a:rPr>
              <a:t>Illustrative Economy quote · 1 passenger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57400"/>
            <a:ext cx="35204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 i="0">
                <a:solidFill>
                  <a:srgbClr val="536B80"/>
                </a:solidFill>
                <a:latin typeface="Aptos"/>
              </a:rPr>
              <a:t>VGA–DEL base · 1,370 km × ₹3.80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057400"/>
            <a:ext cx="12344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20" b="1" i="0">
                <a:solidFill>
                  <a:srgbClr val="172B3E"/>
                </a:solidFill>
                <a:latin typeface="Aptos"/>
              </a:rPr>
              <a:t>₹5,206.00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96312"/>
            <a:ext cx="35204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 i="0">
                <a:solidFill>
                  <a:srgbClr val="536B80"/>
                </a:solidFill>
                <a:latin typeface="Aptos"/>
              </a:rPr>
              <a:t>Illustrative tax ·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496312"/>
            <a:ext cx="12344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20" b="1" i="0">
                <a:solidFill>
                  <a:srgbClr val="172B3E"/>
                </a:solidFill>
                <a:latin typeface="Aptos"/>
              </a:rPr>
              <a:t>₹260.30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35224"/>
            <a:ext cx="35204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 i="0">
                <a:solidFill>
                  <a:srgbClr val="536B80"/>
                </a:solidFill>
                <a:latin typeface="Aptos"/>
              </a:rPr>
              <a:t>Service fee · ₹99 / passenger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935224"/>
            <a:ext cx="12344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20" b="1" i="0">
                <a:solidFill>
                  <a:srgbClr val="172B3E"/>
                </a:solidFill>
                <a:latin typeface="Aptos"/>
              </a:rPr>
              <a:t>₹99.00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7376" y="3319272"/>
            <a:ext cx="4828032" cy="310896"/>
          </a:xfrm>
          <a:prstGeom prst="round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374136"/>
            <a:ext cx="45720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TOTAL  ₹5,565.30  ·  sample formula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87952"/>
            <a:ext cx="365760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02B46"/>
                </a:solidFill>
                <a:latin typeface="Aptos"/>
              </a:rPr>
              <a:t>Seat counts per dated sample flight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26060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690872"/>
            <a:ext cx="162763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536B80"/>
                </a:solidFill>
                <a:latin typeface="Aptos"/>
              </a:rPr>
              <a:t>Economy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4700016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1463A5"/>
                </a:solidFill>
                <a:latin typeface="Aptos"/>
              </a:rPr>
              <a:t>36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38144" y="4617720"/>
            <a:ext cx="26060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5303" y="4690872"/>
            <a:ext cx="162763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536B80"/>
                </a:solidFill>
                <a:latin typeface="Aptos"/>
              </a:rPr>
              <a:t>Premium Economy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4700016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1463A5"/>
                </a:solidFill>
                <a:latin typeface="Aptos"/>
              </a:rPr>
              <a:t>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617720"/>
            <a:ext cx="26060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690872"/>
            <a:ext cx="162763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536B80"/>
                </a:solidFill>
                <a:latin typeface="Aptos"/>
              </a:rPr>
              <a:t>Business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700016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1463A5"/>
                </a:solidFill>
                <a:latin typeface="Aptos"/>
              </a:rPr>
              <a:t>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4617720"/>
            <a:ext cx="26060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34856" y="4690872"/>
            <a:ext cx="162763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536B80"/>
                </a:solidFill>
                <a:latin typeface="Aptos"/>
              </a:rPr>
              <a:t>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6496" y="4700016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1463A5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614416"/>
            <a:ext cx="1088136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1">
                <a:solidFill>
                  <a:srgbClr val="536B80"/>
                </a:solidFill>
                <a:latin typeface="Aptos"/>
              </a:rPr>
              <a:t>A connecting booking receives one seat assignment per leg. Fare rates and tax are demo constants, not real fares/tax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07 · BOOKING AND LIVE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Validate → allocate → commit →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08 / 11</a:t>
            </a:r>
          </a:p>
        </p:txBody>
      </p:sp>
      <p:pic>
        <p:nvPicPr>
          <p:cNvPr id="8" name="Picture 7" descr="book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261872"/>
            <a:ext cx="10515600" cy="3874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87552" y="5285232"/>
            <a:ext cx="4846320" cy="566928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C9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5422392"/>
            <a:ext cx="448056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 i="0">
                <a:solidFill>
                  <a:srgbClr val="102B46"/>
                </a:solidFill>
                <a:latin typeface="Aptos"/>
              </a:rPr>
              <a:t>SSE snapshot + booking/cancellation event per flight leg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285232"/>
            <a:ext cx="4846320" cy="566928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E9D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422392"/>
            <a:ext cx="448056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 i="0">
                <a:solidFill>
                  <a:srgbClr val="102B46"/>
                </a:solidFill>
                <a:latin typeface="Aptos"/>
              </a:rPr>
              <a:t>One PNR and one DB transaction cover the itinerary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08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Test evidence, not production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89888"/>
            <a:ext cx="2240280" cy="1024128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2011680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463A5"/>
                </a:solidFill>
                <a:latin typeface="Aptos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20116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0" i="0">
                <a:solidFill>
                  <a:srgbClr val="536B80"/>
                </a:solidFill>
                <a:latin typeface="Aptos"/>
              </a:rPr>
              <a:t>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89888"/>
            <a:ext cx="2240280" cy="1024128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536192"/>
            <a:ext cx="2011680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4B8C5"/>
                </a:solidFill>
                <a:latin typeface="Aptos"/>
              </a:rPr>
              <a:t>93.1%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993392"/>
            <a:ext cx="20116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0" i="0">
                <a:solidFill>
                  <a:srgbClr val="536B80"/>
                </a:solidFill>
                <a:latin typeface="Aptos"/>
              </a:rPr>
              <a:t>branch-aware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389888"/>
            <a:ext cx="2240280" cy="1024128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1536192"/>
            <a:ext cx="2011680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6835D"/>
                </a:solidFill>
                <a:latin typeface="Aptos"/>
              </a:rPr>
              <a:t>ruff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1993392"/>
            <a:ext cx="20116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0" i="0">
                <a:solidFill>
                  <a:srgbClr val="536B80"/>
                </a:solidFill>
                <a:latin typeface="Aptos"/>
              </a:rPr>
              <a:t>clean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389888"/>
            <a:ext cx="2240280" cy="1024128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1536192"/>
            <a:ext cx="2011680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4A62A"/>
                </a:solidFill>
                <a:latin typeface="Aptos"/>
              </a:rPr>
              <a:t>mypy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1993392"/>
            <a:ext cx="20116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0" i="0">
                <a:solidFill>
                  <a:srgbClr val="536B80"/>
                </a:solidFill>
                <a:latin typeface="Aptos"/>
              </a:rPr>
              <a:t>strict ·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70632"/>
            <a:ext cx="5943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6"/>
                </a:solidFill>
                <a:latin typeface="Aptos"/>
              </a:rPr>
              <a:t>Single-process seat race · 50 simultaneous threads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346704"/>
            <a:ext cx="7406640" cy="493776"/>
          </a:xfrm>
          <a:prstGeom prst="roundRect">
            <a:avLst/>
          </a:prstGeom>
          <a:solidFill>
            <a:srgbClr val="E7EDF2"/>
          </a:solidFill>
          <a:ln w="10160"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" y="3346704"/>
            <a:ext cx="5332780" cy="493776"/>
          </a:xfrm>
          <a:prstGeom prst="roundRect">
            <a:avLst/>
          </a:prstGeom>
          <a:solidFill>
            <a:srgbClr val="16835D"/>
          </a:solidFill>
          <a:ln w="10160">
            <a:solidFill>
              <a:srgbClr val="168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61888" y="3346704"/>
            <a:ext cx="73152" cy="493776"/>
          </a:xfrm>
          <a:prstGeom prst="rect">
            <a:avLst/>
          </a:prstGeom>
          <a:solidFill>
            <a:srgbClr val="16835D"/>
          </a:solidFill>
          <a:ln w="10160">
            <a:solidFill>
              <a:srgbClr val="168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447288"/>
            <a:ext cx="489204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36 confirmed · all Economy seats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447288"/>
            <a:ext cx="18288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102B46"/>
                </a:solidFill>
                <a:latin typeface="Aptos"/>
              </a:rPr>
              <a:t>14 rejected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3017520"/>
            <a:ext cx="3090672" cy="1508760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C9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05088" y="3264408"/>
            <a:ext cx="265176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1" i="0">
                <a:solidFill>
                  <a:srgbClr val="16835D"/>
                </a:solidFill>
                <a:latin typeface="Apto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31336"/>
            <a:ext cx="267004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02B46"/>
                </a:solidFill>
                <a:latin typeface="Aptos"/>
              </a:rPr>
              <a:t>duplicate seat labels</a:t>
            </a:r>
          </a:p>
        </p:txBody>
      </p:sp>
      <p:sp>
        <p:nvSpPr>
          <p:cNvPr id="29" name="Oval 28"/>
          <p:cNvSpPr/>
          <p:nvPr/>
        </p:nvSpPr>
        <p:spPr>
          <a:xfrm>
            <a:off x="713232" y="4471416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361688"/>
            <a:ext cx="7150608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End-to-end SSE snapshot then booking delta tested over Uvicorn.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" y="5020056"/>
            <a:ext cx="82296" cy="82296"/>
          </a:xfrm>
          <a:prstGeom prst="ellipse">
            <a:avLst/>
          </a:prstGeom>
          <a:solidFill>
            <a:srgbClr val="14B8C5"/>
          </a:solidFill>
          <a:ln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910328"/>
            <a:ext cx="7150608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Search, layover, cabin, quote, PNR and cancellation tests; Hypothesis properties.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5596128"/>
            <a:ext cx="10917936" cy="438912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E9D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696712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2B46"/>
                </a:solidFill>
                <a:latin typeface="Aptos"/>
              </a:rPr>
              <a:t>Thread correctness in one process only. No multi-worker or PostgreSQL integration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09 ·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What this demo does — and does not —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5257800" cy="1572768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82296" cy="1572768"/>
          </a:xfrm>
          <a:prstGeom prst="rect">
            <a:avLst/>
          </a:prstGeom>
          <a:solidFill>
            <a:srgbClr val="14B8C5"/>
          </a:solidFill>
          <a:ln w="10160"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9616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6"/>
                </a:solidFill>
                <a:latin typeface="Aptos"/>
              </a:rPr>
              <a:t>Working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4873752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536B80"/>
                </a:solidFill>
                <a:latin typeface="Aptos"/>
              </a:rPr>
              <a:t>Route/date search · cabin seat maps · booking/cancellation
One PNR for 1–3 legs · live SSE updates
Zero-config SQLite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353312"/>
            <a:ext cx="5257800" cy="1572768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53312"/>
            <a:ext cx="82296" cy="157276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9616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6"/>
                </a:solidFill>
                <a:latin typeface="Aptos"/>
              </a:rPr>
              <a:t>Explicitly not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873752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536B80"/>
                </a:solidFill>
                <a:latin typeface="Aptos"/>
              </a:rPr>
              <a:t>Live airline data · real pricing
Payment and ticket issue · passenger login
Multi-worker shared inventory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8"/>
            <a:ext cx="36576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6"/>
                </a:solidFill>
                <a:latin typeface="Aptos"/>
              </a:rPr>
              <a:t>Next engineering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58768"/>
            <a:ext cx="2194560" cy="1353312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" y="4023360"/>
            <a:ext cx="347472" cy="301752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E8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46220"/>
            <a:ext cx="256032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463A5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462272"/>
            <a:ext cx="19202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02B46"/>
                </a:solidFill>
                <a:latin typeface="Aptos"/>
              </a:rPr>
              <a:t>Shared seat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782312"/>
            <a:ext cx="19202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36B80"/>
                </a:solidFill>
                <a:latin typeface="Aptos"/>
              </a:rPr>
              <a:t>DB uniqueness / transaction 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3858768"/>
            <a:ext cx="2194560" cy="1353312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85032" y="4023360"/>
            <a:ext cx="347472" cy="301752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E8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4046220"/>
            <a:ext cx="256032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463A5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4462272"/>
            <a:ext cx="19202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02B46"/>
                </a:solidFill>
                <a:latin typeface="Aptos"/>
              </a:rPr>
              <a:t>Integration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4782312"/>
            <a:ext cx="19202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36B80"/>
                </a:solidFill>
                <a:latin typeface="Aptos"/>
              </a:rPr>
              <a:t>Postgres + multiple workers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7376" y="3858768"/>
            <a:ext cx="2194560" cy="1353312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74536" y="4023360"/>
            <a:ext cx="347472" cy="301752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E8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4046220"/>
            <a:ext cx="256032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463A5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4462272"/>
            <a:ext cx="19202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02B46"/>
                </a:solidFill>
                <a:latin typeface="Aptos"/>
              </a:rPr>
              <a:t>External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4782312"/>
            <a:ext cx="19202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36B80"/>
                </a:solidFill>
                <a:latin typeface="Aptos"/>
              </a:rPr>
              <a:t>Licensed schedule / fare 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3858768"/>
            <a:ext cx="2194560" cy="1353312"/>
          </a:xfrm>
          <a:prstGeom prst="roundRect">
            <a:avLst/>
          </a:prstGeom>
          <a:solidFill>
            <a:srgbClr val="F3F7FA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64040" y="4023360"/>
            <a:ext cx="347472" cy="301752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E8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4046220"/>
            <a:ext cx="256032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463A5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462272"/>
            <a:ext cx="19202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02B46"/>
                </a:solidFill>
                <a:latin typeface="Aptos"/>
              </a:rPr>
              <a:t>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782312"/>
            <a:ext cx="19202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36B80"/>
                </a:solidFill>
                <a:latin typeface="Aptos"/>
              </a:rPr>
              <a:t>Auth, privacy and payments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614416"/>
            <a:ext cx="1088136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 i="1">
                <a:solidFill>
                  <a:srgbClr val="536B80"/>
                </a:solidFill>
                <a:latin typeface="Aptos"/>
              </a:rPr>
              <a:t>AI-assisted work was tested/reviewed; PostgreSQL, Docker, remote CI and Windows launchers remain unverified.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1148"/>
          </a:xfrm>
          <a:prstGeom prst="rect">
            <a:avLst/>
          </a:prstGeom>
          <a:solidFill>
            <a:srgbClr val="F4A62A"/>
          </a:solidFill>
          <a:ln w="10160">
            <a:solidFill>
              <a:srgbClr val="F4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"/>
            <a:ext cx="11109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B8C5"/>
                </a:solidFill>
                <a:latin typeface="Aptos"/>
              </a:rPr>
              <a:t>10 ·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56616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Run the demo ·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863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AeroReserve · Project Defence · Fictional sample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36B80"/>
                </a:solidFill>
                <a:latin typeface="Aptos"/>
              </a:rPr>
              <a:t>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6812280" cy="2788920"/>
          </a:xfrm>
          <a:prstGeom prst="roundRect">
            <a:avLst/>
          </a:prstGeom>
          <a:solidFill>
            <a:srgbClr val="102B46"/>
          </a:solidFill>
          <a:ln w="10160">
            <a:solidFill>
              <a:srgbClr val="10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2"/>
            <a:ext cx="62179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B8C5"/>
                </a:solidFill>
                <a:latin typeface="Aptos"/>
              </a:rPr>
              <a:t>Start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21408"/>
            <a:ext cx="617220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python -m pip install -e ".[dev]"
python -m uvicorn aerobooking.api:app --reload --host 0.0.0.0 --port 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72968"/>
            <a:ext cx="6181344" cy="566928"/>
          </a:xfrm>
          <a:prstGeom prst="roundRect">
            <a:avLst/>
          </a:prstGeom>
          <a:solidFill>
            <a:srgbClr val="14B8C5"/>
          </a:solidFill>
          <a:ln w="10160">
            <a:solidFill>
              <a:srgbClr val="14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310128"/>
            <a:ext cx="5870448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2B46"/>
                </a:solidFill>
                <a:latin typeface="Aptos"/>
              </a:rPr>
              <a:t>Open http://localhost:8000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858768"/>
            <a:ext cx="6163056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 i="0">
                <a:solidFill>
                  <a:srgbClr val="C8D9E6"/>
                </a:solidFill>
                <a:latin typeface="Aptos"/>
              </a:rPr>
              <a:t>API documentation: http://localhost:8000/docs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1353312"/>
            <a:ext cx="3730752" cy="2788920"/>
          </a:xfrm>
          <a:prstGeom prst="roundRect">
            <a:avLst/>
          </a:prstGeom>
          <a:solidFill>
            <a:srgbClr val="E8F3F9"/>
          </a:solidFill>
          <a:ln w="10160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627632"/>
            <a:ext cx="320040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2B46"/>
                </a:solidFill>
                <a:latin typeface="Aptos"/>
              </a:rPr>
              <a:t>Eight-minute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21408"/>
            <a:ext cx="309067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1 · Search VGA → 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32303"/>
            <a:ext cx="309067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2 · Compare 0/1/2 stops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43199"/>
            <a:ext cx="309067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3 · Preview seats + fare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054095"/>
            <a:ext cx="309067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4 · Book one PNR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364991"/>
            <a:ext cx="309067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5 · Show second-tab 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675887"/>
            <a:ext cx="309067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72B3E"/>
                </a:solidFill>
                <a:latin typeface="Aptos"/>
              </a:rPr>
              <a:t>6 · Cancel and rerun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892040"/>
            <a:ext cx="1028700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02B46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449824"/>
            <a:ext cx="102870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63A5"/>
                </a:solidFill>
                <a:latin typeface="Aptos"/>
              </a:rPr>
              <a:t>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6007608"/>
            <a:ext cx="102870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36B80"/>
                </a:solidFill>
                <a:latin typeface="Aptos"/>
              </a:rPr>
              <a:t>AeroReserve is a fictional academic demo, not a live airline booking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AeroReserve Project Defence</dc:title>
  <dc:subject>Flight Booking and Seat Allocation Platform</dc:subject>
  <dc:creator>AeroReserve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